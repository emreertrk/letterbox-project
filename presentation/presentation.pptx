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Doluluk %</c:v>
                </c:pt>
              </c:strCache>
            </c:strRef>
          </c:tx>
          <c:spPr>
            <a:solidFill>
              <a:srgbClr val="FF8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Puan (rating)</c:v>
                </c:pt>
                <c:pt idx="1">
                  <c:v>Süre (minute)</c:v>
                </c:pt>
                <c:pt idx="2">
                  <c:v>Tarih (date)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9.7</c:v>
                </c:pt>
                <c:pt idx="1">
                  <c:v>80.7</c:v>
                </c:pt>
                <c:pt idx="2">
                  <c:v>90.2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A30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Film Sayısı</c:v>
                </c:pt>
              </c:strCache>
            </c:strRef>
          </c:tx>
          <c:spPr>
            <a:solidFill>
              <a:srgbClr val="40BCF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1950</c:v>
                </c:pt>
                <c:pt idx="1">
                  <c:v>1960</c:v>
                </c:pt>
                <c:pt idx="2">
                  <c:v>1970</c:v>
                </c:pt>
                <c:pt idx="3">
                  <c:v>1980</c:v>
                </c:pt>
                <c:pt idx="4">
                  <c:v>1990</c:v>
                </c:pt>
                <c:pt idx="5">
                  <c:v>2000</c:v>
                </c:pt>
                <c:pt idx="6">
                  <c:v>2010</c:v>
                </c:pt>
                <c:pt idx="7">
                  <c:v>2020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24076</c:v>
                </c:pt>
                <c:pt idx="1">
                  <c:v>36483</c:v>
                </c:pt>
                <c:pt idx="2">
                  <c:v>48929</c:v>
                </c:pt>
                <c:pt idx="3">
                  <c:v>55915</c:v>
                </c:pt>
                <c:pt idx="4">
                  <c:v>65967</c:v>
                </c:pt>
                <c:pt idx="5">
                  <c:v>119276</c:v>
                </c:pt>
                <c:pt idx="6">
                  <c:v>252165</c:v>
                </c:pt>
                <c:pt idx="7">
                  <c:v>179501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Ortalama Puan</c:v>
                </c:pt>
              </c:strCache>
            </c:strRef>
          </c:tx>
          <c:spPr>
            <a:solidFill>
              <a:srgbClr val="FF8000"/>
            </a:solidFill>
            <a:ln w="38100" cap="flat">
              <a:solidFill>
                <a:srgbClr val="FF8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8000"/>
              </a:solidFill>
              <a:ln w="9525" cap="flat">
                <a:solidFill>
                  <a:srgbClr val="FF80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1950</c:v>
                </c:pt>
                <c:pt idx="1">
                  <c:v>1960</c:v>
                </c:pt>
                <c:pt idx="2">
                  <c:v>1970</c:v>
                </c:pt>
                <c:pt idx="3">
                  <c:v>1980</c:v>
                </c:pt>
                <c:pt idx="4">
                  <c:v>1990</c:v>
                </c:pt>
                <c:pt idx="5">
                  <c:v>2000</c:v>
                </c:pt>
                <c:pt idx="6">
                  <c:v>2010</c:v>
                </c:pt>
                <c:pt idx="7">
                  <c:v>2020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3.4</c:v>
                </c:pt>
                <c:pt idx="1">
                  <c:v>3.4</c:v>
                </c:pt>
                <c:pt idx="2">
                  <c:v>3.36</c:v>
                </c:pt>
                <c:pt idx="3">
                  <c:v>3.3</c:v>
                </c:pt>
                <c:pt idx="4">
                  <c:v>3.28</c:v>
                </c:pt>
                <c:pt idx="5">
                  <c:v>3.22</c:v>
                </c:pt>
                <c:pt idx="6">
                  <c:v>3.18</c:v>
                </c:pt>
                <c:pt idx="7">
                  <c:v>3.2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30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.6"/>
          <c:min val="2.8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8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14181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9AAB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Film Sayısı</c:v>
                </c:pt>
              </c:strCache>
            </c:strRef>
          </c:tx>
          <c:spPr>
            <a:solidFill>
              <a:srgbClr val="00E0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Drama</c:v>
                </c:pt>
                <c:pt idx="1">
                  <c:v>Documentary</c:v>
                </c:pt>
                <c:pt idx="2">
                  <c:v>Comedy</c:v>
                </c:pt>
                <c:pt idx="3">
                  <c:v>Animation</c:v>
                </c:pt>
                <c:pt idx="4">
                  <c:v>Horror</c:v>
                </c:pt>
                <c:pt idx="5">
                  <c:v>Romance</c:v>
                </c:pt>
                <c:pt idx="6">
                  <c:v>Thriller</c:v>
                </c:pt>
                <c:pt idx="7">
                  <c:v>Music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232201</c:v>
                </c:pt>
                <c:pt idx="1">
                  <c:v>163890</c:v>
                </c:pt>
                <c:pt idx="2">
                  <c:v>140636</c:v>
                </c:pt>
                <c:pt idx="3">
                  <c:v>58708</c:v>
                </c:pt>
                <c:pt idx="4">
                  <c:v>53870</c:v>
                </c:pt>
                <c:pt idx="5">
                  <c:v>51549</c:v>
                </c:pt>
                <c:pt idx="6">
                  <c:v>46726</c:v>
                </c:pt>
                <c:pt idx="7">
                  <c:v>44105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Ortalama Puan</c:v>
                </c:pt>
              </c:strCache>
            </c:strRef>
          </c:tx>
          <c:spPr>
            <a:solidFill>
              <a:srgbClr val="FF8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Documentary</c:v>
                </c:pt>
                <c:pt idx="1">
                  <c:v>Music</c:v>
                </c:pt>
                <c:pt idx="2">
                  <c:v>Animation</c:v>
                </c:pt>
                <c:pt idx="3">
                  <c:v>Drama</c:v>
                </c:pt>
                <c:pt idx="4">
                  <c:v>Romance</c:v>
                </c:pt>
                <c:pt idx="5">
                  <c:v>Comedy</c:v>
                </c:pt>
                <c:pt idx="6">
                  <c:v>Thriller</c:v>
                </c:pt>
                <c:pt idx="7">
                  <c:v>Horror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3.52</c:v>
                </c:pt>
                <c:pt idx="1">
                  <c:v>3.44</c:v>
                </c:pt>
                <c:pt idx="2">
                  <c:v>3.36</c:v>
                </c:pt>
                <c:pt idx="3">
                  <c:v>3.33</c:v>
                </c:pt>
                <c:pt idx="4">
                  <c:v>3.19</c:v>
                </c:pt>
                <c:pt idx="5">
                  <c:v>3.18</c:v>
                </c:pt>
                <c:pt idx="6">
                  <c:v>3.05</c:v>
                </c:pt>
                <c:pt idx="7">
                  <c:v>2.92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7"/>
          <c:min val="2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Film Sayısı</c:v>
                </c:pt>
              </c:strCache>
            </c:strRef>
          </c:tx>
          <c:spPr>
            <a:solidFill>
              <a:srgbClr val="40BCF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English</c:v>
                </c:pt>
                <c:pt idx="1">
                  <c:v>French</c:v>
                </c:pt>
                <c:pt idx="2">
                  <c:v>Spanish</c:v>
                </c:pt>
                <c:pt idx="3">
                  <c:v>German</c:v>
                </c:pt>
                <c:pt idx="4">
                  <c:v>Japanese</c:v>
                </c:pt>
                <c:pt idx="5">
                  <c:v>Chinese</c:v>
                </c:pt>
                <c:pt idx="6">
                  <c:v>Portuguese</c:v>
                </c:pt>
                <c:pt idx="7">
                  <c:v>Russian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451645</c:v>
                </c:pt>
                <c:pt idx="1">
                  <c:v>65306</c:v>
                </c:pt>
                <c:pt idx="2">
                  <c:v>61740</c:v>
                </c:pt>
                <c:pt idx="3">
                  <c:v>51611</c:v>
                </c:pt>
                <c:pt idx="4">
                  <c:v>44121</c:v>
                </c:pt>
                <c:pt idx="5">
                  <c:v>30430</c:v>
                </c:pt>
                <c:pt idx="6">
                  <c:v>30409</c:v>
                </c:pt>
                <c:pt idx="7">
                  <c:v>26749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Film Sayısı</c:v>
                </c:pt>
              </c:strCache>
            </c:strRef>
          </c:tx>
          <c:spPr>
            <a:solidFill>
              <a:srgbClr val="00E0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USA</c:v>
                </c:pt>
                <c:pt idx="1">
                  <c:v>France</c:v>
                </c:pt>
                <c:pt idx="2">
                  <c:v>UK</c:v>
                </c:pt>
                <c:pt idx="3">
                  <c:v>Japan</c:v>
                </c:pt>
                <c:pt idx="4">
                  <c:v>Germany</c:v>
                </c:pt>
                <c:pt idx="5">
                  <c:v>Canada</c:v>
                </c:pt>
                <c:pt idx="6">
                  <c:v>India</c:v>
                </c:pt>
                <c:pt idx="7">
                  <c:v>Italy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174489</c:v>
                </c:pt>
                <c:pt idx="1">
                  <c:v>45725</c:v>
                </c:pt>
                <c:pt idx="2">
                  <c:v>42914</c:v>
                </c:pt>
                <c:pt idx="3">
                  <c:v>41362</c:v>
                </c:pt>
                <c:pt idx="4">
                  <c:v>41325</c:v>
                </c:pt>
                <c:pt idx="5">
                  <c:v>23054</c:v>
                </c:pt>
                <c:pt idx="6">
                  <c:v>22393</c:v>
                </c:pt>
                <c:pt idx="7">
                  <c:v>19377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Film Sayısı</c:v>
                </c:pt>
              </c:strCache>
            </c:strRef>
          </c:tx>
          <c:spPr>
            <a:solidFill>
              <a:srgbClr val="FF8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Duygusal ilişki hikayeleri</c:v>
                </c:pt>
                <c:pt idx="1">
                  <c:v>Kaba mizah / satir</c:v>
                </c:pt>
                <c:pt idx="2">
                  <c:v>Korku &amp; canavar klasikleri</c:v>
                </c:pt>
                <c:pt idx="3">
                  <c:v>Karanlık psikolojik gerilim</c:v>
                </c:pt>
                <c:pt idx="4">
                  <c:v>Kanlı slasher korku</c:v>
                </c:pt>
                <c:pt idx="5">
                  <c:v>Şaka &amp; slapstick mizah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4012</c:v>
                </c:pt>
                <c:pt idx="1">
                  <c:v>3816</c:v>
                </c:pt>
                <c:pt idx="2">
                  <c:v>3742</c:v>
                </c:pt>
                <c:pt idx="3">
                  <c:v>3315</c:v>
                </c:pt>
                <c:pt idx="4">
                  <c:v>3132</c:v>
                </c:pt>
                <c:pt idx="5">
                  <c:v>2936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Yayın Sayısı</c:v>
                </c:pt>
              </c:strCache>
            </c:strRef>
          </c:tx>
          <c:spPr>
            <a:solidFill>
              <a:srgbClr val="40BCF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Theatrical</c:v>
                </c:pt>
                <c:pt idx="1">
                  <c:v>Premiere</c:v>
                </c:pt>
                <c:pt idx="2">
                  <c:v>Digital</c:v>
                </c:pt>
                <c:pt idx="3">
                  <c:v>TV</c:v>
                </c:pt>
                <c:pt idx="4">
                  <c:v>Physical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750043</c:v>
                </c:pt>
                <c:pt idx="1">
                  <c:v>198706</c:v>
                </c:pt>
                <c:pt idx="2">
                  <c:v>169986</c:v>
                </c:pt>
                <c:pt idx="3">
                  <c:v>87641</c:v>
                </c:pt>
                <c:pt idx="4">
                  <c:v>79769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Yayın Sayısı</c:v>
                </c:pt>
              </c:strCache>
            </c:strRef>
          </c:tx>
          <c:spPr>
            <a:solidFill>
              <a:srgbClr val="00E0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USA</c:v>
                </c:pt>
                <c:pt idx="1">
                  <c:v>France</c:v>
                </c:pt>
                <c:pt idx="2">
                  <c:v>Germany</c:v>
                </c:pt>
                <c:pt idx="3">
                  <c:v>UK</c:v>
                </c:pt>
                <c:pt idx="4">
                  <c:v>Japan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320901</c:v>
                </c:pt>
                <c:pt idx="1">
                  <c:v>101670</c:v>
                </c:pt>
                <c:pt idx="2">
                  <c:v>87159</c:v>
                </c:pt>
                <c:pt idx="3">
                  <c:v>82682</c:v>
                </c:pt>
                <c:pt idx="4">
                  <c:v>48026</c:v>
                </c:pt>
                <c:pt idx="5">
                  <c:v>38013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Film Sayısı</c:v>
                </c:pt>
              </c:strCache>
            </c:strRef>
          </c:tx>
          <c:spPr>
            <a:solidFill>
              <a:srgbClr val="FF8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BBC</c:v>
                </c:pt>
                <c:pt idx="1">
                  <c:v>Warner Bros.</c:v>
                </c:pt>
                <c:pt idx="2">
                  <c:v>Columbia Pictures</c:v>
                </c:pt>
                <c:pt idx="3">
                  <c:v>ARTE</c:v>
                </c:pt>
                <c:pt idx="4">
                  <c:v>MGM</c:v>
                </c:pt>
                <c:pt idx="5">
                  <c:v>ONF | NFB</c:v>
                </c:pt>
                <c:pt idx="6">
                  <c:v>Universal</c:v>
                </c:pt>
                <c:pt idx="7">
                  <c:v>Paramount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3560</c:v>
                </c:pt>
                <c:pt idx="1">
                  <c:v>3222</c:v>
                </c:pt>
                <c:pt idx="2">
                  <c:v>3000</c:v>
                </c:pt>
                <c:pt idx="3">
                  <c:v>2796</c:v>
                </c:pt>
                <c:pt idx="4">
                  <c:v>2789</c:v>
                </c:pt>
                <c:pt idx="5">
                  <c:v>2662</c:v>
                </c:pt>
                <c:pt idx="6">
                  <c:v>2633</c:v>
                </c:pt>
                <c:pt idx="7">
                  <c:v>2627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9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C"/>
        </a:solidFill>
        <a:ln>
          <a:noFill/>
        </a:ln>
        <a:effectLst/>
      </c:spPr>
    </c:plotArea>
    <c:plotVisOnly val="1"/>
    <c:dispBlanksAs val="span"/>
  </c:chart>
  <c:spPr>
    <a:solidFill>
      <a:srgbClr val="1418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Gerçek Power BI ekran görüntüleri buraya eklenecek.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8000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6400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E054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6400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0BC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LETTERBOXD FİLM VERİ SETİ ANALİZİ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· Power BI Görselleştirme · Makine Öğrenmesi ile Uçtan Uca Film Veri Hikayesi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3886200"/>
            <a:ext cx="2011680" cy="0"/>
          </a:xfrm>
          <a:prstGeom prst="line">
            <a:avLst/>
          </a:prstGeom>
          <a:noFill/>
          <a:ln w="31750">
            <a:solidFill>
              <a:srgbClr val="FF8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Bitirme Projesi Sunumu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941.597 film kaydı · 9 tablo · Power BI + Python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 Akışı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00200" y="1737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 &amp; Veri Seti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Keşifçi Veri Analizi (EDA)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3291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Tür, Dil, Ülke, Tema Kırılımları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4800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B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0200" y="4846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Makine Öğrenmesi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55778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B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00200" y="5623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 &amp; Değerlendirme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PROJE TANIMI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Letterboxd Veri Seti ile Film Analitiği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Letterboxd platformundan alınan geniş ölçekli film veri seti üzerinde EDA, Power BI raporlaması ve ML modelleme adımlarını birleştiren grup çalışması.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941.597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kaydı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tablosu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B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1874–2031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63640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Tarih aralığı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69680" y="22860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4688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8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3.24 / 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06840" y="31546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Ortalama puan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tablolar: movies, genres, languages, countries, themes, releases, studios, actors, crew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VERI SETI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 Yapısı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270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377440" y="1527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941.597 satır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60520" y="152704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date, tagline, description, minute, rating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167128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377440" y="20939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1.046.849 satır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60520" y="209397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genre — filme çoklu tür ataması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34056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609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377440" y="266090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1.038.762 satır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60520" y="266090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type, language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278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377440" y="32278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693.476 satır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60520" y="322783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country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67912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794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3774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125.641 satır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60520" y="37947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theme — filme çoklu tema ataması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3616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377440" y="43616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1.332.782 satır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60520" y="43616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country, date, type (Theatrical/Digital/TV…)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001768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9286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377440" y="492861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679.283 satır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60520" y="492861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studio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Kalitesi: Doluluk Oranları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tablosunda 941.597 kayıttan kritik alanların doluluk durumu.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1168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10312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FF8000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2331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90.999 film oylanmış (%9,7)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315468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00E054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0" y="3383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760.027 filmde süre bilgisi var (%80,7)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420624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40BCF4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0" y="4434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849.684 filmde tarih bilgisi var (%90,2)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Zaman İçinde Film Sayısı ve Ortalama Puan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1950–2020 arası on yıllık dönemlere göre film hacmi artarken ortalama puan kademeli olarak geriliyor.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10789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TÜR ANALIZI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Çok Kullanılan 8 Film Türü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Drama, veri setinde en yaygın tür — Documentary ve Comedy onu takip ediyor.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789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TÜR ANALIZI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Türlere Göre Ortalama Puan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 en yüksek ortalama puana sahipken Horror en düşük ortalamayla kapanıyor.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789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DIL ANALIZI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Yaygın 8 Film Dili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İngilizce, veri setindeki filmlerin büyük çoğunluğunda baskın dil olarak görülüyor.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789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ÜLKE ANALIZI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Prodüksiyon Ülkesine Göre Film Sayısı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 kaynaklı yapımlar açık ara önde; Fransa, İngiltere, Japonya ve Almanya onu izliyor.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789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TEMA ANALIZI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Sık Görülen 6 Film Teması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Duygusal ilişki hikayeleri ve kara mizah, en çok etiketlenen temalar arasında.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789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YAYIN ANALIZI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Yayın Türü ve Yayın Ülkesi Dağılımı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Yayınların çoğu sinema (Theatrical) kanalıyla gerçekleşiyor; ABD en çok yayın alan ülke.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 Türü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3172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 Ülkesi (Top 6)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17920" y="233172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STÜDYO ANALIZI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Üretken 8 Stüdyo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BBC, Warner Bros. ve Columbia Pictures veri setinde en çok filme sahip stüdyolar.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10789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POWER BI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İnteraktif Dashboard: 7 Sayfalık Rapor Yapısı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bakış kartlarından tema ve ekip analizine uzanan çok katmanlı Power BI raporu.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3911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0208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Bakış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30428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puan, film sayısı, süre kartları + zaman içinde puan/film trendi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965960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03911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0208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 (Genre)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230428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 başına film sayısı ve toplam puan — pivot tablo ve sütun grafik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98064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712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B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8529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(Language)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136392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 göre ortalama ve toplam puan karşılaştırması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798064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8712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28529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Ülke (Country)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3136392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Ülke bazında film sayısı ve puan dağılımı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630168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703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0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685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(Theme)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96849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başına toplam/ortalama puan ve genel özet kartı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3630168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703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B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20840" y="3685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 (Releases)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96849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 ülkesine göre film sayısı ve puan kırılımı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462272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53542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5171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 &amp; Oyuncu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4800600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rolleri ve oyuncu bilgisi tabloları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POWER BI — GÖRSELLER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Ekran Görüntüleri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alana Power BI rapor sayfalarının ekran görüntüleri eklenecek.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232830"/>
          </a:solidFill>
          <a:ln w="15875">
            <a:solidFill>
              <a:srgbClr val="32394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2971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Ekran Görüntüsü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Sayfa 1 – Genel Bakış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228600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232830"/>
          </a:solidFill>
          <a:ln w="15875">
            <a:solidFill>
              <a:srgbClr val="32394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206240" y="2971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Ekran Görüntüsü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3840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Sayfa 2 – Tür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228600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232830"/>
          </a:solidFill>
          <a:ln w="15875">
            <a:solidFill>
              <a:srgbClr val="32394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0" y="2971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Ekran Görüntüsü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3840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Sayfa 3–4 – Dil / Ülke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480560"/>
            <a:ext cx="3337560" cy="1965960"/>
          </a:xfrm>
          <a:prstGeom prst="roundRect">
            <a:avLst>
              <a:gd name="adj" fmla="val 2791"/>
            </a:avLst>
          </a:prstGeom>
          <a:solidFill>
            <a:srgbClr val="232830"/>
          </a:solidFill>
          <a:ln w="15875">
            <a:solidFill>
              <a:srgbClr val="32394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0080" y="5166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Ekran Görüntüsü 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Sayfa 5–7 – Tema / Yayın / Ekip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MACHINE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kaynak CSV dosyasından türetilen bilgi ve uygulanan işleme yöntemi.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475488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49040" y="1965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Used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19659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genres.csv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24414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genres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244144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10515600" cy="475488"/>
          </a:xfrm>
          <a:prstGeom prst="rect">
            <a:avLst/>
          </a:prstGeom>
          <a:solidFill>
            <a:srgbClr val="191D2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1693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themes.csv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1693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themes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291693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Mapping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39242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languages.csv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39242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languages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339242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67912"/>
            <a:ext cx="10515600" cy="475488"/>
          </a:xfrm>
          <a:prstGeom prst="rect">
            <a:avLst/>
          </a:prstGeom>
          <a:solidFill>
            <a:srgbClr val="191D2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679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studios.csv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38679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studios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86791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releases.csv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4343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details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55280" y="43434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&amp; Release Features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818888"/>
            <a:ext cx="10515600" cy="475488"/>
          </a:xfrm>
          <a:prstGeom prst="rect">
            <a:avLst/>
          </a:prstGeom>
          <a:solidFill>
            <a:srgbClr val="191D2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81888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countries.csv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48188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countries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481888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Encoding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29437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actors.csv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5294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 information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529437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Statistics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MACHINE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944368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FF800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880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unnecessary columns.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FF800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021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missing values.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187952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FF800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2394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duplicate records.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809744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FF8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74573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data consistency.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2402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944368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88036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all CSV files using the common movie ID.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566160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5021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 unified dataset for machine learning.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MACHINE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Modelling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ve Random Forest Regressor modellerinin karşılaştırmalı performans metrikleri.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515600" cy="566928"/>
          </a:xfrm>
          <a:prstGeom prst="rect">
            <a:avLst/>
          </a:prstGeom>
          <a:solidFill>
            <a:srgbClr val="2328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21031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0" y="2103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52560" y="21031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700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26080" y="267004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0.2495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52160" y="26700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0.2094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052560" y="26700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236976"/>
            <a:ext cx="10515600" cy="566928"/>
          </a:xfrm>
          <a:prstGeom prst="rect">
            <a:avLst/>
          </a:prstGeom>
          <a:solidFill>
            <a:srgbClr val="191D2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3697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26080" y="323697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0.1107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52160" y="323697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0.0820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52560" y="323697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80390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26080" y="380390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0.3327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52160" y="380390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0.2863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052560" y="380390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370832"/>
            <a:ext cx="10515600" cy="566928"/>
          </a:xfrm>
          <a:prstGeom prst="rect">
            <a:avLst/>
          </a:prstGeom>
          <a:solidFill>
            <a:srgbClr val="191D24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37083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926080" y="437083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0.4041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52160" y="43708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0.5587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052560" y="437083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Regressor, tüm metriklerde Linear Regression'ı geride bırakarak daha güçlü bir tahmin performansı gösterdi.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SONUÇ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 Çıkan Bulgular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FF800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en yaygın tür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232.201 filmle Drama, veri setinin en baskın türü.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214884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00E054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Documentary en yüksek puanlı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63640" y="25146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3,52 ortalama puanla belgeseller en beğenilen tür.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88620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40BCF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 üretim lideri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174.489 filmle ABD, prodüksiyon ülkesi sıralamasında açık ara birinci.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365760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232830"/>
          </a:solidFill>
          <a:ln w="12700">
            <a:solidFill>
              <a:srgbClr val="323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886200"/>
            <a:ext cx="146304" cy="146304"/>
          </a:xfrm>
          <a:prstGeom prst="roundRect">
            <a:avLst>
              <a:gd name="adj" fmla="val 312500"/>
            </a:avLst>
          </a:prstGeom>
          <a:solidFill>
            <a:srgbClr val="FF8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794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Puanlar zamanla düşüyor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63640" y="4251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1950'lerde 3,40 olan ortalama puan 2010'larda 3,18'e geriledi.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SONUÇ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Değerlendirme &amp; Sonraki Adımlar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 Edilenler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95144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941.597 filmlik çok boyutlu veri seti işlendi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16936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620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sayfalık interaktif Power BI raporu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4838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Tür, dil, ülke, tema kırılımlı analizler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00E05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056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için releases/studios/themes'ten türetilmiş özellikler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1737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 Adımlar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5040" y="2295144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FF8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240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dashboard görsellerinin eklenmesi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2916936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FF8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86207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modelinin ince ayarının yapılması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3538728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FF8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4838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Bulguların akademik/jüri değerlendirmesi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4160520"/>
            <a:ext cx="128016" cy="128016"/>
          </a:xfrm>
          <a:prstGeom prst="roundRect">
            <a:avLst>
              <a:gd name="adj" fmla="val 357143"/>
            </a:avLst>
          </a:prstGeom>
          <a:solidFill>
            <a:srgbClr val="FF8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10565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 bildirimlere göre iyileştirme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2651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8000"/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2651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E054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26517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0BC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108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AA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Sorularınızı bekliyoruz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2026-07-30T07:37:12Z</dcterms:created>
  <dcterms:modified xsi:type="dcterms:W3CDTF">2026-07-30T07:37:12Z</dcterms:modified>
</cp:coreProperties>
</file>